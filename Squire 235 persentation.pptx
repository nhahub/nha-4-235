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C Diary Girl" charset="1" panose="02000603000000000000"/>
      <p:regular r:id="rId27"/>
    </p:embeddedFont>
    <p:embeddedFont>
      <p:font typeface="Nunito" charset="1" panose="00000000000000000000"/>
      <p:regular r:id="rId28"/>
    </p:embeddedFont>
    <p:embeddedFont>
      <p:font typeface="XM Vahid Bold" charset="1" panose="02000803090000020004"/>
      <p:regular r:id="rId29"/>
    </p:embeddedFont>
    <p:embeddedFont>
      <p:font typeface="Droid Arabic Kufi" charset="1" panose="020B0606030804020204"/>
      <p:regular r:id="rId30"/>
    </p:embeddedFont>
    <p:embeddedFont>
      <p:font typeface="Nunito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https://github.com/nhahub/NHA-4-235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1699513" y="660645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145" y="2084760"/>
            <a:ext cx="14890115" cy="16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Squire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7757" y="5038725"/>
            <a:ext cx="9624529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Mohamed Akram (Team Leader) • Omar Mowena • Karim Walaa Omar Zalat • Ziad Mohamed • Omar Ghorab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2194" y="3932581"/>
            <a:ext cx="346138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hlinkClick r:id="rId11" tooltip="https://github.com/nhahub/NHA-4-235"/>
              </a:rPr>
              <a:t>NHA-4-235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90524" y="828102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9306" y="3075142"/>
            <a:ext cx="37205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🚩</a:t>
            </a: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 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Problem</a:t>
            </a: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170" y="4219892"/>
            <a:ext cx="611432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Multiple forms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Manual data entry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Interrupted workflow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Time-consuming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38317" y="4219892"/>
            <a:ext cx="755027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Natural language input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AI understands requests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Automatic information extraction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Workflow automation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8781" y="3075142"/>
            <a:ext cx="347055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💡</a:t>
            </a: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 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7653" y="7219633"/>
            <a:ext cx="133167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 "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From natural language to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reliable execution</a:t>
            </a: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12190" y="2190262"/>
            <a:ext cx="12892311" cy="1365838"/>
            <a:chOff x="0" y="0"/>
            <a:chExt cx="3395506" cy="359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12190" y="3794225"/>
            <a:ext cx="12892311" cy="1365838"/>
            <a:chOff x="0" y="0"/>
            <a:chExt cx="3395506" cy="359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12190" y="5398188"/>
            <a:ext cx="12892311" cy="1365838"/>
            <a:chOff x="0" y="0"/>
            <a:chExt cx="3395506" cy="359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5506" cy="359727"/>
            </a:xfrm>
            <a:custGeom>
              <a:avLst/>
              <a:gdLst/>
              <a:ahLst/>
              <a:cxnLst/>
              <a:rect r="r" b="b" t="t" l="l"/>
              <a:pathLst>
                <a:path h="359727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359727"/>
                  </a:lnTo>
                  <a:lnTo>
                    <a:pt x="0" y="359727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95506" cy="397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96206" y="324257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Why Squire?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7845" y="2268954"/>
            <a:ext cx="1272100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Natural Interaction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Users communicate with the system using everyday language.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783500" y="3926304"/>
            <a:ext cx="1272100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Save Time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Reduces manual form filling and navigation.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697845" y="5528657"/>
            <a:ext cx="1272100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Intelligent Automation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Automatically schedules meetings and sends reminders.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612190" y="7055086"/>
            <a:ext cx="12892311" cy="1789559"/>
            <a:chOff x="0" y="0"/>
            <a:chExt cx="3395506" cy="4713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95506" cy="471324"/>
            </a:xfrm>
            <a:custGeom>
              <a:avLst/>
              <a:gdLst/>
              <a:ahLst/>
              <a:cxnLst/>
              <a:rect r="r" b="b" t="t" l="l"/>
              <a:pathLst>
                <a:path h="471324" w="3395506">
                  <a:moveTo>
                    <a:pt x="0" y="0"/>
                  </a:moveTo>
                  <a:lnTo>
                    <a:pt x="3395506" y="0"/>
                  </a:lnTo>
                  <a:lnTo>
                    <a:pt x="3395506" y="471324"/>
                  </a:lnTo>
                  <a:lnTo>
                    <a:pt x="0" y="471324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95506" cy="50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97845" y="7185555"/>
            <a:ext cx="1272100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Reliable Execution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AI understands requests, while predefined workflows execute actions safely.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2456" y="2919158"/>
            <a:ext cx="6095439" cy="1193812"/>
            <a:chOff x="0" y="0"/>
            <a:chExt cx="1605383" cy="314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5383" cy="314420"/>
            </a:xfrm>
            <a:custGeom>
              <a:avLst/>
              <a:gdLst/>
              <a:ahLst/>
              <a:cxnLst/>
              <a:rect r="r" b="b" t="t" l="l"/>
              <a:pathLst>
                <a:path h="314420" w="1605383">
                  <a:moveTo>
                    <a:pt x="0" y="0"/>
                  </a:moveTo>
                  <a:lnTo>
                    <a:pt x="1605383" y="0"/>
                  </a:lnTo>
                  <a:lnTo>
                    <a:pt x="1605383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05383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58837" y="548500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Key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1117" y="3031876"/>
            <a:ext cx="583811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Task Management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61844" y="2919158"/>
            <a:ext cx="6872262" cy="1193812"/>
            <a:chOff x="0" y="0"/>
            <a:chExt cx="1809979" cy="3144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9978" cy="314420"/>
            </a:xfrm>
            <a:custGeom>
              <a:avLst/>
              <a:gdLst/>
              <a:ahLst/>
              <a:cxnLst/>
              <a:rect r="r" b="b" t="t" l="l"/>
              <a:pathLst>
                <a:path h="314420" w="1809978">
                  <a:moveTo>
                    <a:pt x="0" y="0"/>
                  </a:moveTo>
                  <a:lnTo>
                    <a:pt x="1809978" y="0"/>
                  </a:lnTo>
                  <a:lnTo>
                    <a:pt x="1809978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09979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19167" y="3031876"/>
            <a:ext cx="640307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Meeting Management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82456" y="6659331"/>
            <a:ext cx="6095439" cy="1193812"/>
            <a:chOff x="0" y="0"/>
            <a:chExt cx="1605383" cy="3144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5383" cy="314420"/>
            </a:xfrm>
            <a:custGeom>
              <a:avLst/>
              <a:gdLst/>
              <a:ahLst/>
              <a:cxnLst/>
              <a:rect r="r" b="b" t="t" l="l"/>
              <a:pathLst>
                <a:path h="314420" w="1605383">
                  <a:moveTo>
                    <a:pt x="0" y="0"/>
                  </a:moveTo>
                  <a:lnTo>
                    <a:pt x="1605383" y="0"/>
                  </a:lnTo>
                  <a:lnTo>
                    <a:pt x="1605383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5383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11117" y="6772049"/>
            <a:ext cx="583811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Google Calendar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61844" y="6659331"/>
            <a:ext cx="6872262" cy="1193812"/>
            <a:chOff x="0" y="0"/>
            <a:chExt cx="1809979" cy="3144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9978" cy="314420"/>
            </a:xfrm>
            <a:custGeom>
              <a:avLst/>
              <a:gdLst/>
              <a:ahLst/>
              <a:cxnLst/>
              <a:rect r="r" b="b" t="t" l="l"/>
              <a:pathLst>
                <a:path h="314420" w="1809978">
                  <a:moveTo>
                    <a:pt x="0" y="0"/>
                  </a:moveTo>
                  <a:lnTo>
                    <a:pt x="1809978" y="0"/>
                  </a:lnTo>
                  <a:lnTo>
                    <a:pt x="1809978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09979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51934" y="6772049"/>
            <a:ext cx="583811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Email Notifications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82456" y="4789244"/>
            <a:ext cx="6095439" cy="1193812"/>
            <a:chOff x="0" y="0"/>
            <a:chExt cx="1605383" cy="3144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05383" cy="314420"/>
            </a:xfrm>
            <a:custGeom>
              <a:avLst/>
              <a:gdLst/>
              <a:ahLst/>
              <a:cxnLst/>
              <a:rect r="r" b="b" t="t" l="l"/>
              <a:pathLst>
                <a:path h="314420" w="1605383">
                  <a:moveTo>
                    <a:pt x="0" y="0"/>
                  </a:moveTo>
                  <a:lnTo>
                    <a:pt x="1605383" y="0"/>
                  </a:lnTo>
                  <a:lnTo>
                    <a:pt x="1605383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05383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11117" y="4901963"/>
            <a:ext cx="583811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Note Management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61844" y="4789244"/>
            <a:ext cx="6872262" cy="1193812"/>
            <a:chOff x="0" y="0"/>
            <a:chExt cx="1809979" cy="3144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09978" cy="314420"/>
            </a:xfrm>
            <a:custGeom>
              <a:avLst/>
              <a:gdLst/>
              <a:ahLst/>
              <a:cxnLst/>
              <a:rect r="r" b="b" t="t" l="l"/>
              <a:pathLst>
                <a:path h="314420" w="1809978">
                  <a:moveTo>
                    <a:pt x="0" y="0"/>
                  </a:moveTo>
                  <a:lnTo>
                    <a:pt x="1809978" y="0"/>
                  </a:lnTo>
                  <a:lnTo>
                    <a:pt x="1809978" y="314420"/>
                  </a:lnTo>
                  <a:lnTo>
                    <a:pt x="0" y="314420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09979" cy="352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851934" y="4901963"/>
            <a:ext cx="583811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Progress Tracking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74363" y="-82191"/>
            <a:ext cx="12956343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System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857750" y="1546582"/>
            <a:ext cx="8572500" cy="8572500"/>
          </a:xfrm>
          <a:custGeom>
            <a:avLst/>
            <a:gdLst/>
            <a:ahLst/>
            <a:cxnLst/>
            <a:rect r="r" b="b" t="t" l="l"/>
            <a:pathLst>
              <a:path h="8572500" w="8572500">
                <a:moveTo>
                  <a:pt x="0" y="0"/>
                </a:moveTo>
                <a:lnTo>
                  <a:pt x="8572500" y="0"/>
                </a:lnTo>
                <a:lnTo>
                  <a:pt x="85725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97" r="0" b="-1714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18507" y="284398"/>
            <a:ext cx="7488502" cy="244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3"/>
              </a:lnSpc>
            </a:pPr>
            <a:r>
              <a:rPr lang="en-US" sz="682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Dataset Source &amp; Description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6438" y="2873421"/>
            <a:ext cx="6442810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Custom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Productivity Dataset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Manually created and annotated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Designed for productivity management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Adapted samples from benchmark NLU datasets: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ATIS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SNIPS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TOPv2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BANK77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89190" y="3650244"/>
            <a:ext cx="644281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Language: English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Objects: Task, Meeting, Note, Progress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Intents: ADD, GET, UPDATE, DELETE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Annotation: Intent + Named Entity Recognition (NER)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0582" y="63951"/>
            <a:ext cx="11851051" cy="208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Model Selection — Why mDeBERTa-v3?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3791" y="2719673"/>
            <a:ext cx="57935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Multilingual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Support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0145" y="3716184"/>
            <a:ext cx="1551027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Supports 100+ languages, enabling future multilingual expansion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without changing the model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3791" y="4807405"/>
            <a:ext cx="66386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Disentangled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Attention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082" y="5627825"/>
            <a:ext cx="1642833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Separates word content from relative position, improving contextual understanding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for intent classification and entity recognition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03791" y="6970850"/>
            <a:ext cx="740152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Strong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NLU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0145" y="7886520"/>
            <a:ext cx="1602815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Achieves state-of-the-art results on benchmark NLU tasks, providing accurate and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reliable language understanding</a:t>
            </a:r>
            <a:r>
              <a:rPr lang="ar-EG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0582" y="607946"/>
            <a:ext cx="11851051" cy="105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How We Built Our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3685" y="2719673"/>
            <a:ext cx="56836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Pretrained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Encoder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657763" y="3711543"/>
            <a:ext cx="155102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mDeBERTa-v3 as the shared language en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3685" y="4725881"/>
            <a:ext cx="6197561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Efficient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Fine-Tuning</a:t>
            </a:r>
          </a:p>
          <a:p>
            <a:pPr algn="ctr" rtl="true">
              <a:lnSpc>
                <a:spcPts val="7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3209615" y="5612341"/>
            <a:ext cx="164283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Lightweight Adap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ter Layers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3685" y="6425679"/>
            <a:ext cx="59402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Multi-Task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916704" y="7246099"/>
            <a:ext cx="16028152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: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One model learns three tasks simultan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eously</a:t>
            </a:r>
          </a:p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Action Classification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Object Classification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Named Entity Recognition (NER)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0582" y="607946"/>
            <a:ext cx="11851051" cy="105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Training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719673"/>
            <a:ext cx="105577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Phase 1 —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Efficient Adaptation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246265" y="3574626"/>
            <a:ext cx="1551027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Freeze the pretrained encoder</a:t>
            </a:r>
          </a:p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Train Adapter Layers and Predi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ction Heads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52767" y="4723537"/>
            <a:ext cx="119203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Phase 2 —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Domain Adaptation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96666" y="5584401"/>
            <a:ext cx="1642833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              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Unfreeze the last encoder layers</a:t>
            </a:r>
          </a:p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Adap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 the language model to the productivity domain</a:t>
            </a:r>
          </a:p>
          <a:p>
            <a:pPr algn="ctr" rtl="true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70145" y="6727401"/>
            <a:ext cx="867453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Phase 3 — Joint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Optimization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916704" y="7557346"/>
            <a:ext cx="14368565" cy="21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7"/>
              </a:lnSpc>
            </a:pPr>
            <a:r>
              <a:rPr lang="ar-EG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                   </a:t>
            </a:r>
            <a:r>
              <a:rPr lang="en-US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Train all tasks t</a:t>
            </a:r>
            <a:r>
              <a:rPr lang="en-US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ogether</a:t>
            </a:r>
            <a:r>
              <a:rPr lang="ar-EG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</a:t>
            </a:r>
          </a:p>
          <a:p>
            <a:pPr algn="ctr" rtl="true">
              <a:lnSpc>
                <a:spcPts val="4267"/>
              </a:lnSpc>
            </a:pPr>
            <a:r>
              <a:rPr lang="ar-EG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</a:t>
            </a:r>
            <a:r>
              <a:rPr lang="en-US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Optimize Action, </a:t>
            </a:r>
            <a:r>
              <a:rPr lang="en-US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Object, and NER</a:t>
            </a:r>
          </a:p>
          <a:p>
            <a:pPr algn="ctr" rtl="true">
              <a:lnSpc>
                <a:spcPts val="4267"/>
              </a:lnSpc>
            </a:pPr>
            <a:r>
              <a:rPr lang="ar-EG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                </a:t>
            </a:r>
            <a:r>
              <a:rPr lang="en-US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Use contrastive learning</a:t>
            </a:r>
            <a:r>
              <a:rPr lang="ar-EG" sz="3047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</a:t>
            </a:r>
          </a:p>
          <a:p>
            <a:pPr algn="l">
              <a:lnSpc>
                <a:spcPts val="426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53280" y="2802642"/>
            <a:ext cx="2782052" cy="1125001"/>
            <a:chOff x="0" y="0"/>
            <a:chExt cx="732721" cy="296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721" cy="296297"/>
            </a:xfrm>
            <a:custGeom>
              <a:avLst/>
              <a:gdLst/>
              <a:ahLst/>
              <a:cxnLst/>
              <a:rect r="r" b="b" t="t" l="l"/>
              <a:pathLst>
                <a:path h="296297" w="732721">
                  <a:moveTo>
                    <a:pt x="0" y="0"/>
                  </a:moveTo>
                  <a:lnTo>
                    <a:pt x="732721" y="0"/>
                  </a:lnTo>
                  <a:lnTo>
                    <a:pt x="732721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32721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7706" y="4029103"/>
            <a:ext cx="4329477" cy="1521439"/>
            <a:chOff x="0" y="0"/>
            <a:chExt cx="1140274" cy="4007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0274" cy="400708"/>
            </a:xfrm>
            <a:custGeom>
              <a:avLst/>
              <a:gdLst/>
              <a:ahLst/>
              <a:cxnLst/>
              <a:rect r="r" b="b" t="t" l="l"/>
              <a:pathLst>
                <a:path h="400708" w="1140274">
                  <a:moveTo>
                    <a:pt x="178819" y="0"/>
                  </a:moveTo>
                  <a:lnTo>
                    <a:pt x="961455" y="0"/>
                  </a:lnTo>
                  <a:cubicBezTo>
                    <a:pt x="1008881" y="0"/>
                    <a:pt x="1054364" y="18840"/>
                    <a:pt x="1087899" y="52375"/>
                  </a:cubicBezTo>
                  <a:cubicBezTo>
                    <a:pt x="1121434" y="85910"/>
                    <a:pt x="1140274" y="131393"/>
                    <a:pt x="1140274" y="178819"/>
                  </a:cubicBezTo>
                  <a:lnTo>
                    <a:pt x="1140274" y="221890"/>
                  </a:lnTo>
                  <a:cubicBezTo>
                    <a:pt x="1140274" y="320648"/>
                    <a:pt x="1060214" y="400708"/>
                    <a:pt x="961455" y="400708"/>
                  </a:cubicBezTo>
                  <a:lnTo>
                    <a:pt x="178819" y="400708"/>
                  </a:lnTo>
                  <a:cubicBezTo>
                    <a:pt x="131393" y="400708"/>
                    <a:pt x="85910" y="381869"/>
                    <a:pt x="52375" y="348334"/>
                  </a:cubicBezTo>
                  <a:cubicBezTo>
                    <a:pt x="18840" y="314798"/>
                    <a:pt x="0" y="269315"/>
                    <a:pt x="0" y="221890"/>
                  </a:cubicBezTo>
                  <a:lnTo>
                    <a:pt x="0" y="178819"/>
                  </a:lnTo>
                  <a:cubicBezTo>
                    <a:pt x="0" y="131393"/>
                    <a:pt x="18840" y="85910"/>
                    <a:pt x="52375" y="52375"/>
                  </a:cubicBezTo>
                  <a:cubicBezTo>
                    <a:pt x="85910" y="18840"/>
                    <a:pt x="131393" y="0"/>
                    <a:pt x="178819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0274" cy="438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79299" y="649994"/>
            <a:ext cx="10578794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Model 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6453" y="4220217"/>
            <a:ext cx="3767506" cy="10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96.3% Accuracy</a:t>
            </a:r>
          </a:p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Macro F1: 96.4%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842855"/>
            <a:ext cx="6647489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Action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794190" y="2802642"/>
            <a:ext cx="2782052" cy="1125001"/>
            <a:chOff x="0" y="0"/>
            <a:chExt cx="732721" cy="296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721" cy="296297"/>
            </a:xfrm>
            <a:custGeom>
              <a:avLst/>
              <a:gdLst/>
              <a:ahLst/>
              <a:cxnLst/>
              <a:rect r="r" b="b" t="t" l="l"/>
              <a:pathLst>
                <a:path h="296297" w="732721">
                  <a:moveTo>
                    <a:pt x="0" y="0"/>
                  </a:moveTo>
                  <a:lnTo>
                    <a:pt x="732721" y="0"/>
                  </a:lnTo>
                  <a:lnTo>
                    <a:pt x="732721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2721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28616" y="4029103"/>
            <a:ext cx="4329477" cy="1521439"/>
            <a:chOff x="0" y="0"/>
            <a:chExt cx="1140274" cy="400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0274" cy="400708"/>
            </a:xfrm>
            <a:custGeom>
              <a:avLst/>
              <a:gdLst/>
              <a:ahLst/>
              <a:cxnLst/>
              <a:rect r="r" b="b" t="t" l="l"/>
              <a:pathLst>
                <a:path h="400708" w="1140274">
                  <a:moveTo>
                    <a:pt x="178819" y="0"/>
                  </a:moveTo>
                  <a:lnTo>
                    <a:pt x="961455" y="0"/>
                  </a:lnTo>
                  <a:cubicBezTo>
                    <a:pt x="1008881" y="0"/>
                    <a:pt x="1054364" y="18840"/>
                    <a:pt x="1087899" y="52375"/>
                  </a:cubicBezTo>
                  <a:cubicBezTo>
                    <a:pt x="1121434" y="85910"/>
                    <a:pt x="1140274" y="131393"/>
                    <a:pt x="1140274" y="178819"/>
                  </a:cubicBezTo>
                  <a:lnTo>
                    <a:pt x="1140274" y="221890"/>
                  </a:lnTo>
                  <a:cubicBezTo>
                    <a:pt x="1140274" y="320648"/>
                    <a:pt x="1060214" y="400708"/>
                    <a:pt x="961455" y="400708"/>
                  </a:cubicBezTo>
                  <a:lnTo>
                    <a:pt x="178819" y="400708"/>
                  </a:lnTo>
                  <a:cubicBezTo>
                    <a:pt x="131393" y="400708"/>
                    <a:pt x="85910" y="381869"/>
                    <a:pt x="52375" y="348334"/>
                  </a:cubicBezTo>
                  <a:cubicBezTo>
                    <a:pt x="18840" y="314798"/>
                    <a:pt x="0" y="269315"/>
                    <a:pt x="0" y="221890"/>
                  </a:cubicBezTo>
                  <a:lnTo>
                    <a:pt x="0" y="178819"/>
                  </a:lnTo>
                  <a:cubicBezTo>
                    <a:pt x="0" y="131393"/>
                    <a:pt x="18840" y="85910"/>
                    <a:pt x="52375" y="52375"/>
                  </a:cubicBezTo>
                  <a:cubicBezTo>
                    <a:pt x="85910" y="18840"/>
                    <a:pt x="131393" y="0"/>
                    <a:pt x="178819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40274" cy="438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07363" y="4220217"/>
            <a:ext cx="3767506" cy="10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93.8% Accuracy</a:t>
            </a:r>
          </a:p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Macro F1: 93.9%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9610" y="2842855"/>
            <a:ext cx="6647489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Object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853280" y="6398268"/>
            <a:ext cx="2782052" cy="1125001"/>
            <a:chOff x="0" y="0"/>
            <a:chExt cx="732721" cy="2962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2721" cy="296297"/>
            </a:xfrm>
            <a:custGeom>
              <a:avLst/>
              <a:gdLst/>
              <a:ahLst/>
              <a:cxnLst/>
              <a:rect r="r" b="b" t="t" l="l"/>
              <a:pathLst>
                <a:path h="296297" w="732721">
                  <a:moveTo>
                    <a:pt x="0" y="0"/>
                  </a:moveTo>
                  <a:lnTo>
                    <a:pt x="732721" y="0"/>
                  </a:lnTo>
                  <a:lnTo>
                    <a:pt x="732721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32721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87706" y="7624728"/>
            <a:ext cx="4329477" cy="1874541"/>
            <a:chOff x="0" y="0"/>
            <a:chExt cx="1140274" cy="4937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0274" cy="493706"/>
            </a:xfrm>
            <a:custGeom>
              <a:avLst/>
              <a:gdLst/>
              <a:ahLst/>
              <a:cxnLst/>
              <a:rect r="r" b="b" t="t" l="l"/>
              <a:pathLst>
                <a:path h="493706" w="1140274">
                  <a:moveTo>
                    <a:pt x="178819" y="0"/>
                  </a:moveTo>
                  <a:lnTo>
                    <a:pt x="961455" y="0"/>
                  </a:lnTo>
                  <a:cubicBezTo>
                    <a:pt x="1008881" y="0"/>
                    <a:pt x="1054364" y="18840"/>
                    <a:pt x="1087899" y="52375"/>
                  </a:cubicBezTo>
                  <a:cubicBezTo>
                    <a:pt x="1121434" y="85910"/>
                    <a:pt x="1140274" y="131393"/>
                    <a:pt x="1140274" y="178819"/>
                  </a:cubicBezTo>
                  <a:lnTo>
                    <a:pt x="1140274" y="314887"/>
                  </a:lnTo>
                  <a:cubicBezTo>
                    <a:pt x="1140274" y="413646"/>
                    <a:pt x="1060214" y="493706"/>
                    <a:pt x="961455" y="493706"/>
                  </a:cubicBezTo>
                  <a:lnTo>
                    <a:pt x="178819" y="493706"/>
                  </a:lnTo>
                  <a:cubicBezTo>
                    <a:pt x="131393" y="493706"/>
                    <a:pt x="85910" y="474866"/>
                    <a:pt x="52375" y="441331"/>
                  </a:cubicBezTo>
                  <a:cubicBezTo>
                    <a:pt x="18840" y="407796"/>
                    <a:pt x="0" y="362313"/>
                    <a:pt x="0" y="314887"/>
                  </a:cubicBezTo>
                  <a:lnTo>
                    <a:pt x="0" y="178819"/>
                  </a:lnTo>
                  <a:cubicBezTo>
                    <a:pt x="0" y="131393"/>
                    <a:pt x="18840" y="85910"/>
                    <a:pt x="52375" y="52375"/>
                  </a:cubicBezTo>
                  <a:cubicBezTo>
                    <a:pt x="85910" y="18840"/>
                    <a:pt x="131393" y="0"/>
                    <a:pt x="178819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40274" cy="53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466453" y="7815843"/>
            <a:ext cx="3767506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Micro F1: 89.8%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Precisi</a:t>
            </a: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on: 88.1%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Recall: 91.5%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438481"/>
            <a:ext cx="6647489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NER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605869" y="6398268"/>
            <a:ext cx="3252853" cy="1125001"/>
            <a:chOff x="0" y="0"/>
            <a:chExt cx="856719" cy="2962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6719" cy="296297"/>
            </a:xfrm>
            <a:custGeom>
              <a:avLst/>
              <a:gdLst/>
              <a:ahLst/>
              <a:cxnLst/>
              <a:rect r="r" b="b" t="t" l="l"/>
              <a:pathLst>
                <a:path h="296297" w="856719">
                  <a:moveTo>
                    <a:pt x="0" y="0"/>
                  </a:moveTo>
                  <a:lnTo>
                    <a:pt x="856719" y="0"/>
                  </a:lnTo>
                  <a:lnTo>
                    <a:pt x="856719" y="296297"/>
                  </a:lnTo>
                  <a:lnTo>
                    <a:pt x="0" y="296297"/>
                  </a:lnTo>
                  <a:close/>
                </a:path>
              </a:pathLst>
            </a:custGeom>
            <a:solidFill>
              <a:srgbClr val="337271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6719" cy="334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28616" y="7624728"/>
            <a:ext cx="4329477" cy="1874541"/>
            <a:chOff x="0" y="0"/>
            <a:chExt cx="1140274" cy="4937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0274" cy="493706"/>
            </a:xfrm>
            <a:custGeom>
              <a:avLst/>
              <a:gdLst/>
              <a:ahLst/>
              <a:cxnLst/>
              <a:rect r="r" b="b" t="t" l="l"/>
              <a:pathLst>
                <a:path h="493706" w="1140274">
                  <a:moveTo>
                    <a:pt x="178819" y="0"/>
                  </a:moveTo>
                  <a:lnTo>
                    <a:pt x="961455" y="0"/>
                  </a:lnTo>
                  <a:cubicBezTo>
                    <a:pt x="1008881" y="0"/>
                    <a:pt x="1054364" y="18840"/>
                    <a:pt x="1087899" y="52375"/>
                  </a:cubicBezTo>
                  <a:cubicBezTo>
                    <a:pt x="1121434" y="85910"/>
                    <a:pt x="1140274" y="131393"/>
                    <a:pt x="1140274" y="178819"/>
                  </a:cubicBezTo>
                  <a:lnTo>
                    <a:pt x="1140274" y="314887"/>
                  </a:lnTo>
                  <a:cubicBezTo>
                    <a:pt x="1140274" y="413646"/>
                    <a:pt x="1060214" y="493706"/>
                    <a:pt x="961455" y="493706"/>
                  </a:cubicBezTo>
                  <a:lnTo>
                    <a:pt x="178819" y="493706"/>
                  </a:lnTo>
                  <a:cubicBezTo>
                    <a:pt x="131393" y="493706"/>
                    <a:pt x="85910" y="474866"/>
                    <a:pt x="52375" y="441331"/>
                  </a:cubicBezTo>
                  <a:cubicBezTo>
                    <a:pt x="18840" y="407796"/>
                    <a:pt x="0" y="362313"/>
                    <a:pt x="0" y="314887"/>
                  </a:cubicBezTo>
                  <a:lnTo>
                    <a:pt x="0" y="178819"/>
                  </a:lnTo>
                  <a:cubicBezTo>
                    <a:pt x="0" y="131393"/>
                    <a:pt x="18840" y="85910"/>
                    <a:pt x="52375" y="52375"/>
                  </a:cubicBezTo>
                  <a:cubicBezTo>
                    <a:pt x="85910" y="18840"/>
                    <a:pt x="131393" y="0"/>
                    <a:pt x="178819" y="0"/>
                  </a:cubicBezTo>
                  <a:close/>
                </a:path>
              </a:pathLst>
            </a:custGeom>
            <a:ln w="47625" cap="rnd">
              <a:solidFill>
                <a:srgbClr val="337271"/>
              </a:solidFill>
              <a:prstDash val="lgDash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40274" cy="531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407363" y="7815843"/>
            <a:ext cx="3767506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ECE: 2.04%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Embedding Separation: 2.75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969610" y="6438481"/>
            <a:ext cx="6647489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C Diary Girl"/>
                <a:ea typeface="AC Diary Girl"/>
                <a:cs typeface="AC Diary Girl"/>
                <a:sym typeface="AC Diary Girl"/>
              </a:rPr>
              <a:t>Reliability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9157" y="409982"/>
            <a:ext cx="11851051" cy="208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Model Optimization (Quantization)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010885" y="3100704"/>
            <a:ext cx="105577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ONNX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Conversion</a:t>
            </a: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044" y="4292599"/>
            <a:ext cx="1419202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Exported the trained PyTorch model to ONNX for platform independen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398" y="6095787"/>
            <a:ext cx="119203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INT8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Dynamic Quantization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967" y="7288268"/>
            <a:ext cx="1642833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ar-EG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                              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Reduced model size and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memory usage</a:t>
            </a:r>
          </a:p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Improved CPU inference performance with minimal accuracy loss</a:t>
            </a:r>
          </a:p>
          <a:p>
            <a:pPr algn="ctr" rtl="true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1774" y="85726"/>
            <a:ext cx="10084452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Database Layer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3480" y="2510180"/>
            <a:ext cx="50596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Unified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Database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34468" y="3105467"/>
            <a:ext cx="47011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PostgreSQL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+ pgvector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9395" y="6262062"/>
            <a:ext cx="71088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Structured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Data Storage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7691" y="7500244"/>
            <a:ext cx="123893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Stores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all productivity information in a relational 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9395" y="4252922"/>
            <a:ext cx="1525132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the architecture became simpler, easier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to maintain, and avoided the complexity of synchronizing data between multiple databases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3320" y="520561"/>
            <a:ext cx="11432218" cy="116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2"/>
              </a:lnSpc>
            </a:pPr>
            <a:r>
              <a:rPr lang="en-US" sz="643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Semantic Search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410638"/>
            <a:ext cx="89661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Produc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tivity Objects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867" y="5103889"/>
            <a:ext cx="605051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Knowledge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Retrieval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7691" y="6290287"/>
            <a:ext cx="1356630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RAG-based retrieval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Retrieves relevant note chunks before response generation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67691" y="3395838"/>
            <a:ext cx="1525132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Semantic search over title embeddings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Finds similar records despite different wording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3320" y="520561"/>
            <a:ext cx="11432218" cy="116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2"/>
              </a:lnSpc>
            </a:pPr>
            <a:r>
              <a:rPr lang="en-US" sz="643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LLM Response Layer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729743" y="2363557"/>
            <a:ext cx="89661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LLM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Selection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2077" y="2531197"/>
            <a:ext cx="20643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TinyLlama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47" y="3629719"/>
            <a:ext cx="49114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ar-EG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  <a:rtl val="true"/>
              </a:rPr>
              <a:t>?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Why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TinyLlama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2621" y="4702267"/>
            <a:ext cx="722137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Lightweight and efficient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Optimized for local deployment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Fast response generation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00247" y="6775427"/>
            <a:ext cx="30838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2621" y="7595847"/>
            <a:ext cx="1102890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Compared with multiple lightweight LLMs.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Selected the best balance between performance and resource usage.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3320" y="520561"/>
            <a:ext cx="11432218" cy="116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2"/>
              </a:lnSpc>
            </a:pPr>
            <a:r>
              <a:rPr lang="en-US" sz="643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LLM Response Layer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0247" y="2256849"/>
            <a:ext cx="96487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Controlled Response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Generation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6428" y="3300822"/>
            <a:ext cx="7813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Prompt-Based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2239" y="4305652"/>
            <a:ext cx="710315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Task-specific prompt templates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response generation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1241" y="5807167"/>
            <a:ext cx="94694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Grounded Responses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2239" y="6875237"/>
            <a:ext cx="1102890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Uses only retrieved application data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No external knowledge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Short and natural responses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99624" y="317029"/>
            <a:ext cx="10842953" cy="12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75"/>
              </a:lnSpc>
            </a:pPr>
            <a:r>
              <a:rPr lang="en-US" sz="683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Shared Embedding Model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46982" y="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1181" y="1709411"/>
            <a:ext cx="35822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Purpose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4467" y="2787006"/>
            <a:ext cx="121581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Converts text into</a:t>
            </a: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384-dimensional semantic embeddings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34264"/>
            <a:ext cx="89218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Shared Across the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48250"/>
            <a:ext cx="88859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Why a Shared Embedder?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22298" y="6125845"/>
            <a:ext cx="909375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Consistent semantic representation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Simplified maintenance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Reusable across multiple AI components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84348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1122" y="247237"/>
            <a:ext cx="12700945" cy="10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4"/>
              </a:lnSpc>
            </a:pPr>
            <a:r>
              <a:rPr lang="en-US" sz="603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RAG-Based Knowledge Retrieval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46982" y="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1181" y="1709411"/>
            <a:ext cx="7269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Why RAG for Notes?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4467" y="2787006"/>
            <a:ext cx="121581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Notes contain rich, unstructured information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27124" y="3772364"/>
            <a:ext cx="6452251" cy="492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6"/>
              </a:lnSpc>
            </a:pPr>
            <a:r>
              <a:rPr lang="en-US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User Question</a:t>
            </a:r>
          </a:p>
          <a:p>
            <a:pPr algn="ctr" rtl="true">
              <a:lnSpc>
                <a:spcPts val="4356"/>
              </a:lnSpc>
            </a:pPr>
            <a:r>
              <a:rPr lang="ar-EG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↓</a:t>
            </a:r>
          </a:p>
          <a:p>
            <a:pPr algn="ctr" rtl="true">
              <a:lnSpc>
                <a:spcPts val="4356"/>
              </a:lnSpc>
            </a:pPr>
            <a:r>
              <a:rPr lang="en-US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Generate Embedding</a:t>
            </a:r>
          </a:p>
          <a:p>
            <a:pPr algn="ctr" rtl="true">
              <a:lnSpc>
                <a:spcPts val="4356"/>
              </a:lnSpc>
            </a:pPr>
            <a:r>
              <a:rPr lang="ar-EG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↓</a:t>
            </a:r>
          </a:p>
          <a:p>
            <a:pPr algn="ctr" rtl="true">
              <a:lnSpc>
                <a:spcPts val="4356"/>
              </a:lnSpc>
            </a:pPr>
            <a:r>
              <a:rPr lang="en-US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Semantic Search</a:t>
            </a:r>
          </a:p>
          <a:p>
            <a:pPr algn="ctr" rtl="true">
              <a:lnSpc>
                <a:spcPts val="4356"/>
              </a:lnSpc>
            </a:pPr>
            <a:r>
              <a:rPr lang="ar-EG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  ↓</a:t>
            </a:r>
          </a:p>
          <a:p>
            <a:pPr algn="ctr" rtl="true">
              <a:lnSpc>
                <a:spcPts val="4356"/>
              </a:lnSpc>
            </a:pPr>
            <a:r>
              <a:rPr lang="en-US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Retrieve Relevant Notes</a:t>
            </a:r>
          </a:p>
          <a:p>
            <a:pPr algn="ctr" rtl="true">
              <a:lnSpc>
                <a:spcPts val="4356"/>
              </a:lnSpc>
            </a:pPr>
            <a:r>
              <a:rPr lang="ar-EG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</a:t>
            </a:r>
            <a:r>
              <a:rPr lang="ar-EG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    ↓</a:t>
            </a:r>
          </a:p>
          <a:p>
            <a:pPr algn="ctr" rtl="true">
              <a:lnSpc>
                <a:spcPts val="4356"/>
              </a:lnSpc>
            </a:pPr>
            <a:r>
              <a:rPr lang="en-US" sz="3111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LLM Response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56405"/>
            <a:ext cx="75333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Key Design Decisions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4467" y="5602965"/>
            <a:ext cx="689419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Shared semantic embeddings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pgvector storage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Context-aware LLM responses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84348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1122" y="247237"/>
            <a:ext cx="12700945" cy="10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4"/>
              </a:lnSpc>
            </a:pPr>
            <a:r>
              <a:rPr lang="en-US" sz="603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Semantic Status Mapping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46982" y="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4671" y="2003203"/>
            <a:ext cx="24595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Purpose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4382" y="3271298"/>
            <a:ext cx="13427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Converts natural language into standardized system statuses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Understands different expressions with the same meaning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671" y="5048250"/>
            <a:ext cx="45458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Business Value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04382" y="6320918"/>
            <a:ext cx="708362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Flexible user interaction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Consistent data representation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Reduces input ambiguity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84348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6982" y="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1122" y="247237"/>
            <a:ext cx="12700945" cy="216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4"/>
              </a:lnSpc>
            </a:pPr>
            <a:r>
              <a:rPr lang="en-US" sz="603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Task &amp; Meeting Scheduling Automation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4671" y="2003203"/>
            <a:ext cx="24595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Purpose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5698" y="2823623"/>
            <a:ext cx="152872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Automates Google Calendar events and Gmail alerts via webhook.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671" y="3785013"/>
            <a:ext cx="39212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Key</a:t>
            </a:r>
            <a:r>
              <a:rPr lang="en-US" b="true" sz="5199">
                <a:solidFill>
                  <a:srgbClr val="337271"/>
                </a:solidFill>
                <a:latin typeface="XM Vahid Bold"/>
                <a:ea typeface="XM Vahid Bold"/>
                <a:cs typeface="XM Vahid Bold"/>
                <a:sym typeface="XM Vahid Bold"/>
              </a:rPr>
              <a:t>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6698" y="4605433"/>
            <a:ext cx="909875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Task &amp; Meeting scheduling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Automatic reminders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Calendar integration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Email notifications before 6 hour of date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37271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Asynchronous workflow execution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84348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6982" y="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7029" y="3389523"/>
            <a:ext cx="12822626" cy="3931676"/>
          </a:xfrm>
          <a:custGeom>
            <a:avLst/>
            <a:gdLst/>
            <a:ahLst/>
            <a:cxnLst/>
            <a:rect r="r" b="b" t="t" l="l"/>
            <a:pathLst>
              <a:path h="3931676" w="12822626">
                <a:moveTo>
                  <a:pt x="0" y="0"/>
                </a:moveTo>
                <a:lnTo>
                  <a:pt x="12822626" y="0"/>
                </a:lnTo>
                <a:lnTo>
                  <a:pt x="12822626" y="3931676"/>
                </a:lnTo>
                <a:lnTo>
                  <a:pt x="0" y="393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11122" y="247237"/>
            <a:ext cx="12700945" cy="216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4"/>
              </a:lnSpc>
            </a:pPr>
            <a:r>
              <a:rPr lang="en-US" sz="603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Task &amp; Meeting Scheduling Automation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218" y="3200400"/>
            <a:ext cx="869558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246">
            <a:off x="3423654" y="3579497"/>
            <a:ext cx="4333509" cy="3128006"/>
          </a:xfrm>
          <a:custGeom>
            <a:avLst/>
            <a:gdLst/>
            <a:ahLst/>
            <a:cxnLst/>
            <a:rect r="r" b="b" t="t" l="l"/>
            <a:pathLst>
              <a:path h="3128006" w="4333509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DAHO2VtuqsA</dc:identifier>
  <dcterms:modified xsi:type="dcterms:W3CDTF">2011-08-01T06:04:30Z</dcterms:modified>
  <cp:revision>1</cp:revision>
  <dc:title>Squire</dc:title>
</cp:coreProperties>
</file>